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DiffuMamba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B0C4DE"/>
                </a:solidFill>
                <a:latin typeface="Calibri"/>
              </a:rPr>
              <a:t>Diffusion Language Model con backbone Mamba </a:t>
            </a:r>
            <a:r>
              <a:rPr sz="1800" b="0" i="0" dirty="0" err="1">
                <a:solidFill>
                  <a:srgbClr val="B0C4DE"/>
                </a:solidFill>
                <a:latin typeface="Calibri"/>
              </a:rPr>
              <a:t>bidirezionale</a:t>
            </a:r>
            <a:endParaRPr sz="1800" b="0" i="0" dirty="0">
              <a:solidFill>
                <a:srgbClr val="B0C4D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80467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8C0"/>
                </a:solidFill>
                <a:latin typeface="Calibri"/>
              </a:rPr>
              <a:t>Irene Poli  ·  Informatica Umanistica  ·  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Il Progetto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Obiettivo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Addestrare un diffusion model per testo con backbone Mamba bidirezionale al posto del classico transformer, e confrontare le rappresentazioni interne dei due modelli tramite probing.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651760" cy="26060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Diffusion 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▸  Backbone Mamba-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bidir</a:t>
            </a:r>
            <a:r>
              <a:rPr lang="it-IT" sz="1200" b="0" i="0" dirty="0" err="1">
                <a:solidFill>
                  <a:srgbClr val="2C3E50"/>
                </a:solidFill>
                <a:latin typeface="Calibri"/>
              </a:rPr>
              <a:t>ectional</a:t>
            </a:r>
            <a:endParaRPr sz="12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3611880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▸ 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Dimensioni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comparabili</a:t>
            </a:r>
            <a:r>
              <a:rPr lang="it-IT" sz="1200" dirty="0">
                <a:solidFill>
                  <a:srgbClr val="2C3E50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a </a:t>
            </a:r>
            <a:endParaRPr lang="it-IT" sz="1200" b="0" i="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BERT</a:t>
            </a:r>
            <a:r>
              <a:rPr lang="it-IT" sz="1200" b="0" i="0" dirty="0">
                <a:solidFill>
                  <a:srgbClr val="2C3E50"/>
                </a:solidFill>
                <a:latin typeface="Calibri"/>
              </a:rPr>
              <a:t> (40M di parametri)</a:t>
            </a:r>
            <a:endParaRPr sz="12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651760" cy="26060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1920240"/>
            <a:ext cx="265176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1984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Addestramento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514600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▸  Dataset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italiano</a:t>
            </a:r>
            <a:endParaRPr sz="12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37560" y="3063240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▸ 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Salvataggio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checkpoint</a:t>
            </a:r>
            <a:r>
              <a:rPr lang="it-IT" sz="1200" b="0" i="0" dirty="0">
                <a:solidFill>
                  <a:srgbClr val="2C3E50"/>
                </a:solidFill>
                <a:latin typeface="Calibri"/>
              </a:rPr>
              <a:t> (ogni 25k step di </a:t>
            </a:r>
            <a:r>
              <a:rPr lang="it-IT" sz="1200" b="0" i="0" dirty="0" err="1">
                <a:solidFill>
                  <a:srgbClr val="2C3E50"/>
                </a:solidFill>
                <a:latin typeface="Calibri"/>
              </a:rPr>
              <a:t>train</a:t>
            </a:r>
            <a:r>
              <a:rPr lang="it-IT" sz="1200" b="0" i="0" dirty="0">
                <a:solidFill>
                  <a:srgbClr val="2C3E50"/>
                </a:solidFill>
                <a:latin typeface="Calibri"/>
              </a:rPr>
              <a:t>)</a:t>
            </a:r>
            <a:endParaRPr sz="12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37560" y="36118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Curve di apprendimento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920240"/>
            <a:ext cx="2651760" cy="26060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1920240"/>
            <a:ext cx="265176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1984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Analisi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14600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▸  Probing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sulle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r</a:t>
            </a:r>
            <a:r>
              <a:rPr lang="it-IT" sz="1200" dirty="0" err="1">
                <a:solidFill>
                  <a:srgbClr val="2C3E50"/>
                </a:solidFill>
                <a:latin typeface="Calibri"/>
              </a:rPr>
              <a:t>appresentazioni</a:t>
            </a:r>
            <a:r>
              <a:rPr lang="it-IT" sz="1200" dirty="0">
                <a:solidFill>
                  <a:srgbClr val="2C3E50"/>
                </a:solidFill>
                <a:latin typeface="Calibri"/>
              </a:rPr>
              <a:t> interne </a:t>
            </a:r>
            <a:endParaRPr sz="12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72200" y="3063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▸ 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Confronto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Mamba vs
Transformer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6118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▸ 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Comprensione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linguistica</a:t>
            </a:r>
            <a:endParaRPr sz="1200" b="0" i="0" dirty="0">
              <a:solidFill>
                <a:srgbClr val="2C3E5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Come funziona un Diffusion Language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1965960" cy="2286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196596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96926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 Forward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1764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Aggiunge rumore gaussiano al testo
maskato/corrotto in T passi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14400"/>
            <a:ext cx="1965960" cy="2286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68880" y="914400"/>
            <a:ext cx="196596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8608" y="96926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 Backbone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1463040"/>
            <a:ext cx="1764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La rete (Mamba)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denoisa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la</a:t>
            </a:r>
            <a:r>
              <a:rPr lang="it-IT" sz="12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sequenza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corrotta</a:t>
            </a:r>
            <a:endParaRPr sz="12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17720" y="914400"/>
            <a:ext cx="1965960" cy="2286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17720" y="914400"/>
            <a:ext cx="196596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7448" y="96926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3. Reverse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1463040"/>
            <a:ext cx="1764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Ad ogni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passo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t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predice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il testo</a:t>
            </a:r>
            <a:r>
              <a:rPr lang="it-IT" sz="12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originale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x₀ da xₜ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914400"/>
            <a:ext cx="1965960" cy="2286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66560" y="914400"/>
            <a:ext cx="196596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76288" y="96926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4.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1463040"/>
            <a:ext cx="1764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Cross-entropy o MSE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tra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C3E50"/>
                </a:solidFill>
                <a:latin typeface="Calibri"/>
              </a:rPr>
              <a:t>predizione</a:t>
            </a:r>
            <a:r>
              <a:rPr lang="it-IT" sz="1200" dirty="0">
                <a:solidFill>
                  <a:srgbClr val="2C3E50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e token </a:t>
            </a:r>
            <a:r>
              <a:rPr lang="it-IT" sz="1200" b="0" i="0" dirty="0">
                <a:solidFill>
                  <a:srgbClr val="2C3E50"/>
                </a:solidFill>
                <a:latin typeface="Calibri"/>
              </a:rPr>
              <a:t>originali (solo </a:t>
            </a:r>
            <a:r>
              <a:rPr lang="it-IT" sz="1200" b="0" i="0" dirty="0" err="1">
                <a:solidFill>
                  <a:srgbClr val="2C3E50"/>
                </a:solidFill>
                <a:latin typeface="Calibri"/>
              </a:rPr>
              <a:t>masked</a:t>
            </a:r>
            <a:r>
              <a:rPr lang="it-IT" sz="1200" b="0" i="0" dirty="0">
                <a:solidFill>
                  <a:srgbClr val="2C3E50"/>
                </a:solidFill>
                <a:latin typeface="Calibri"/>
              </a:rPr>
              <a:t>)</a:t>
            </a:r>
            <a:endParaRPr sz="12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82296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dirty="0" err="1">
                <a:solidFill>
                  <a:srgbClr val="1B3A6B"/>
                </a:solidFill>
                <a:latin typeface="Calibri"/>
              </a:rPr>
              <a:t>Differenza</a:t>
            </a:r>
            <a:r>
              <a:rPr sz="1300" b="1" i="0" dirty="0">
                <a:solidFill>
                  <a:srgbClr val="1B3A6B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B3A6B"/>
                </a:solidFill>
                <a:latin typeface="Calibri"/>
              </a:rPr>
              <a:t>chiave</a:t>
            </a:r>
            <a:r>
              <a:rPr sz="1300" b="1" i="0" dirty="0">
                <a:solidFill>
                  <a:srgbClr val="1B3A6B"/>
                </a:solidFill>
                <a:latin typeface="Calibri"/>
              </a:rPr>
              <a:t> rispetto ai </a:t>
            </a:r>
            <a:r>
              <a:rPr sz="1300" b="1" i="0" dirty="0" err="1">
                <a:solidFill>
                  <a:srgbClr val="1B3A6B"/>
                </a:solidFill>
                <a:latin typeface="Calibri"/>
              </a:rPr>
              <a:t>modelli</a:t>
            </a:r>
            <a:r>
              <a:rPr sz="1300" b="1" i="0" dirty="0">
                <a:solidFill>
                  <a:srgbClr val="1B3A6B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B3A6B"/>
                </a:solidFill>
                <a:latin typeface="Calibri"/>
              </a:rPr>
              <a:t>autoregressivi</a:t>
            </a:r>
            <a:r>
              <a:rPr sz="1300" b="1" i="0" dirty="0">
                <a:solidFill>
                  <a:srgbClr val="1B3A6B"/>
                </a:solidFill>
                <a:latin typeface="Calibri"/>
              </a:rPr>
              <a:t>: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2C3E50"/>
                </a:solidFill>
                <a:latin typeface="Calibri"/>
              </a:rPr>
              <a:t>I diffusion LM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generano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l'intera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sequenza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 in modo non-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autoregressivo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, denoising tutti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i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 token in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parallelo</a:t>
            </a:r>
            <a:endParaRPr lang="it-IT" sz="1300" dirty="0">
              <a:solidFill>
                <a:srgbClr val="2C3E50"/>
              </a:solidFill>
              <a:latin typeface="Calibri"/>
            </a:endParaRP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sz="1300" b="0" i="0" dirty="0">
                <a:solidFill>
                  <a:srgbClr val="2C3E50"/>
                </a:solidFill>
                <a:latin typeface="Calibri"/>
              </a:rPr>
              <a:t>C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onsent</a:t>
            </a:r>
            <a:r>
              <a:rPr lang="it-IT" sz="1300" b="0" i="0" dirty="0" err="1">
                <a:solidFill>
                  <a:srgbClr val="2C3E50"/>
                </a:solidFill>
                <a:latin typeface="Calibri"/>
              </a:rPr>
              <a:t>ono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parallelismo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 e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bidirezionalità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durante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3E50"/>
                </a:solidFill>
                <a:latin typeface="Calibri"/>
              </a:rPr>
              <a:t>l'addestramento</a:t>
            </a:r>
            <a:r>
              <a:rPr sz="1300" b="0" i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7451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187451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Architettura Mamba Bidirezionale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Mamba (SSM — State Space Model)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Modella sequenze tramite equazioni di stato discrete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Selezione input-dipendente (selective scan)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Complessità O(N) vs O(N²) dei transformer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Nessun meccanismo di self-attention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777240"/>
            <a:ext cx="4114800" cy="32004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3440" y="777240"/>
            <a:ext cx="54864" cy="3200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86868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Perché bidirezionale?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Mamba standard è causale (guarda solo
il passato → adatto alla generazione 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4767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Il diffusion LM denoisa tutti i token
in parallelo → deve vedere l'intera sequenza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69464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Bidirezionale = scan forward + scan backward
concatenati prima della proiezione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91256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Comparabile con BERT che usa attention
bidirezionale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E3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Calibri"/>
              </a:rPr>
              <a:t>Implementazione: due SSM indipendenti per sequenza — uno processa i token da sinistra a destra, l'altro da destra a sinistra — e i loro hidden states vengono concatenati.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Dimensioni del Modello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Configurazione scelta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4754880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d_model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167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31673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A89"/>
                </a:solidFill>
                <a:latin typeface="Calibri"/>
              </a:rPr>
              <a:t>Hidden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196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n_layers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819656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300" b="1" i="0" dirty="0">
                <a:solidFill>
                  <a:srgbClr val="2E75B6"/>
                </a:solidFill>
                <a:latin typeface="Calibri"/>
              </a:rPr>
              <a:t>4</a:t>
            </a:r>
            <a:endParaRPr sz="1300" b="1" i="0" dirty="0">
              <a:solidFill>
                <a:srgbClr val="2E75B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181965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A89"/>
                </a:solidFill>
                <a:latin typeface="Calibri"/>
              </a:rPr>
              <a:t>Numero di layer Mamba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4754880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322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d_state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3225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2257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A89"/>
                </a:solidFill>
                <a:latin typeface="Calibri"/>
              </a:rPr>
              <a:t>Dimensione stato SSM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4320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8254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d_conv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8254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2549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A89"/>
                </a:solidFill>
                <a:latin typeface="Calibri"/>
              </a:rPr>
              <a:t>Kernel convoluzione SSM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46120"/>
            <a:ext cx="4754880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328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expand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328416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300" b="1" dirty="0">
                <a:solidFill>
                  <a:srgbClr val="2E75B6"/>
                </a:solidFill>
                <a:latin typeface="Calibri"/>
              </a:rPr>
              <a:t>4</a:t>
            </a:r>
            <a:endParaRPr sz="1300" b="1" i="0" dirty="0">
              <a:solidFill>
                <a:srgbClr val="2E75B6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0440" y="332841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A89"/>
                </a:solidFill>
                <a:latin typeface="Calibri"/>
              </a:rPr>
              <a:t>Fattore espansione interno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83133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Parametri totali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831335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75B6"/>
                </a:solidFill>
                <a:latin typeface="Calibri"/>
              </a:rPr>
              <a:t>~</a:t>
            </a:r>
            <a:r>
              <a:rPr lang="it-IT" sz="1300" b="1" i="0" dirty="0">
                <a:solidFill>
                  <a:srgbClr val="2E75B6"/>
                </a:solidFill>
                <a:latin typeface="Calibri"/>
              </a:rPr>
              <a:t>46</a:t>
            </a:r>
            <a:r>
              <a:rPr sz="1300" b="1" i="0" dirty="0">
                <a:solidFill>
                  <a:srgbClr val="2E75B6"/>
                </a:solidFill>
                <a:latin typeface="Calibri"/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831335"/>
            <a:ext cx="1508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C7A89"/>
                </a:solidFill>
                <a:latin typeface="Calibri"/>
              </a:rPr>
              <a:t>Comparabile</a:t>
            </a:r>
            <a:r>
              <a:rPr sz="1100" b="0" i="0" dirty="0">
                <a:solidFill>
                  <a:srgbClr val="6C7A89"/>
                </a:solidFill>
                <a:latin typeface="Calibri"/>
              </a:rPr>
              <a:t> a BERT-</a:t>
            </a:r>
            <a:r>
              <a:rPr lang="it-IT" sz="1100" b="0" i="0" dirty="0">
                <a:solidFill>
                  <a:srgbClr val="6C7A89"/>
                </a:solidFill>
                <a:latin typeface="Calibri"/>
              </a:rPr>
              <a:t>medium</a:t>
            </a:r>
            <a:endParaRPr sz="1100" b="0" i="0" dirty="0">
              <a:solidFill>
                <a:srgbClr val="6C7A89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394960" y="777240"/>
            <a:ext cx="3383280" cy="379476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94960" y="777240"/>
            <a:ext cx="54864" cy="3794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77840" y="868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Motivazioni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1325880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Scala piccola per prototipazione rapida
e debugging efficiente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1938528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Comparabilità con BERT-small
(~29M parametri)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255117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Addestramento fattibile su singola
GPU consumer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163824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Salvataggio checkpoint regolare
per analisi curve di apprendimento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76472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Risultati probing confrontabili
in modo equo con il transformer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Addestramento del Modello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371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896112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89611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Sequenza di token x₀
(testo reale)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9961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200"/>
            <a:ext cx="1371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673352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Corruzione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67335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Masking/rumore gaussiano
a livello embedding → xₜ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7685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1371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450592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45059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Mamba-bidir processa xₜ
+ timestep embedding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5409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54679"/>
            <a:ext cx="1371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227832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Predizione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22783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Output: stima di x₀
(o del rumore 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31335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31920"/>
            <a:ext cx="1371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005072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Loss &amp; backprop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00507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Cross-entropy / MSE;
aggiornamento pesi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777240"/>
            <a:ext cx="2651760" cy="34747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777240"/>
            <a:ext cx="54864" cy="3474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868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Checkpoint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32588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Salvataggio ogni N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984248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Permette di analizzare
l'apprendimento progressivo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642615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Confronto curve di loss
con il transformer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300984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 Riprendere training
in caso di interruzione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2011680" cy="14630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201168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850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Lingua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234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Inglese
(Wikipedia / BookCorpus)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777240"/>
            <a:ext cx="2011680" cy="14630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777240"/>
            <a:ext cx="201168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78608" y="850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Dimensione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234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Subset ~1–5GB
per prototipazione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777240"/>
            <a:ext cx="2011680" cy="14630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17720" y="777240"/>
            <a:ext cx="201168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7448" y="850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Tokenizzazione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1234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WordPiece / BPE
(vocab BERT-compatibile)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777240"/>
            <a:ext cx="2011680" cy="14630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66560" y="777240"/>
            <a:ext cx="201168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850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234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Train / Val / Test
(standard 80/10/10)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23160"/>
            <a:ext cx="8503920" cy="23317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2423160"/>
            <a:ext cx="54864" cy="2331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514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Criteri di scelta del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92608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Disponibile pubblicamente e ben conosciuto nella comunità NLP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Abbastanza grande da fornire segnale di apprendimento significativo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Abbastanza piccolo (subset) da essere gestibile in fase prototipale su singola GPU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Lo stesso dataset sarà usato per addestrare il transformer comparativo → confronto equo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3E50"/>
                </a:solidFill>
                <a:latin typeface="Calibri"/>
              </a:rPr>
              <a:t>▸  Per il probing si utilizzerà un treebank con annotazioni gold (UD / Penn Treebank)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Analisi Probing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8503920" cy="1143000"/>
          </a:xfrm>
          <a:prstGeom prst="rect">
            <a:avLst/>
          </a:prstGeom>
          <a:solidFill>
            <a:srgbClr val="E3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54864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8503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Principio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Il probing verifica se le rappresentazioni interne di un modello codificano una proprietà linguistica specifica. Si addestra un classificatore lineare (o MLP semplice) sulle rappresentazioni freezate: se il classificatore riesce a predire la proprietà, allora il modello la rappresenta.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Cosa si proba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▸  POS tagging (Part-of-Speech)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07792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▸  Dependency relations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46704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▸  Constituency parsing (depth)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85616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▸  Named Entity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24528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▸  Lemma / forma di superficie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011680"/>
            <a:ext cx="4069080" cy="26060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0" y="2011680"/>
            <a:ext cx="54864" cy="2606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103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Dati per il probing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560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Universal Dependencies (UD)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880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A89"/>
                </a:solidFill>
                <a:latin typeface="Calibri"/>
              </a:rPr>
              <a:t>Treebank multilingue con annotazioni
gold per POS, dep, lemma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1187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Penn Treebank (PTB)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9319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A89"/>
                </a:solidFill>
                <a:latin typeface="Calibri"/>
              </a:rPr>
              <a:t>Annotazioni gold per constituency
parsing e POS (inglese)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519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A89"/>
                </a:solidFill>
                <a:latin typeface="Calibri"/>
              </a:rPr>
              <a:t>Le annotazioni gold garantiscono un riferimento affidabile
e permettono confronto diretto Mamba ↔ Transformer.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Implementazione — Punto di Partenza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68680"/>
            <a:ext cx="8503920" cy="105156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54864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9418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MDLM / SEDD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978407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Masked Diffusion LM e Score Entropy Discrete Diffusion — codebase di riferimento per la pipeline di diffusione discreta su testo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8503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2057400"/>
            <a:ext cx="54864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30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state-spaces/mamba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6712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Implementazione ufficiale Mamba (Gu &amp; Dao 2023) — SSM selettivo con CUDA kernels; adattato per utilizzo bidirezionale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46120"/>
            <a:ext cx="8503920" cy="105156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246120"/>
            <a:ext cx="54864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319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HuggingFace Transformers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5584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Tokenizzatori, dataset loading, training loops; compatibilità con BERT per confronto equo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solidFill>
            <a:srgbClr val="E3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46227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B3A6B"/>
                </a:solidFill>
                <a:latin typeface="Calibri"/>
              </a:rPr>
              <a:t>Approccio modulare: pipeline diffusione separata dalla backbone → facile swap Transformer ↔ Mamba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Risultati Preliminari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90118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89"/>
                </a:solidFill>
                <a:latin typeface="Calibri"/>
              </a:rPr>
              <a:t>Irene Poli — DiffuMamba | Giugno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8503920" cy="29260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22960"/>
            <a:ext cx="54864" cy="292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Stato attuale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▸  Implementazione pipeline di diffusion LM completata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▸  Integrazione backbone Mamba bidirezionale nella pipeline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▸  Prima run di training avviata — verifica discesa della loss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▸  Setup logging e checkpoint saving funzionante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886200"/>
            <a:ext cx="8503920" cy="77724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3886200"/>
            <a:ext cx="54864" cy="77724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9502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Prossimi passi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519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Training completo su dataset  ·  Addestramento modello transformer comparativo  ·  Raccolta rappresentazioni per probing  ·  Analisi curve di loss a confronto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960</Words>
  <Application>Microsoft Office PowerPoint</Application>
  <PresentationFormat>Presentazione su schermo (16:9)</PresentationFormat>
  <Paragraphs>147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Irene Poli</cp:lastModifiedBy>
  <cp:revision>2</cp:revision>
  <dcterms:created xsi:type="dcterms:W3CDTF">2013-01-27T09:14:16Z</dcterms:created>
  <dcterms:modified xsi:type="dcterms:W3CDTF">2026-06-08T17:31:30Z</dcterms:modified>
  <cp:category/>
</cp:coreProperties>
</file>